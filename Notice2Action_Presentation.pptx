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B9A8A"/>
          </a:solidFill>
          <a:ln/>
        </p:spPr>
      </p:sp>
      <p:sp>
        <p:nvSpPr>
          <p:cNvPr id="4" name="Shape 2"/>
          <p:cNvSpPr/>
          <p:nvPr/>
        </p:nvSpPr>
        <p:spPr>
          <a:xfrm>
            <a:off x="7132320" y="-914400"/>
            <a:ext cx="2926080" cy="2926080"/>
          </a:xfrm>
          <a:prstGeom prst="ellipse">
            <a:avLst/>
          </a:prstGeom>
          <a:solidFill>
            <a:srgbClr val="0B9A8A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0" y="-365760"/>
            <a:ext cx="1828800" cy="1828800"/>
          </a:xfrm>
          <a:prstGeom prst="ellipse">
            <a:avLst/>
          </a:prstGeom>
          <a:solidFill>
            <a:srgbClr val="0B9A8A"/>
          </a:solidFill>
          <a:ln/>
        </p:spPr>
      </p:sp>
      <p:sp>
        <p:nvSpPr>
          <p:cNvPr id="6" name="Shape 4"/>
          <p:cNvSpPr/>
          <p:nvPr/>
        </p:nvSpPr>
        <p:spPr>
          <a:xfrm>
            <a:off x="-548640" y="3657600"/>
            <a:ext cx="2011680" cy="2011680"/>
          </a:xfrm>
          <a:prstGeom prst="ellipse">
            <a:avLst/>
          </a:prstGeom>
          <a:solidFill>
            <a:srgbClr val="0B9A8A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914400"/>
            <a:ext cx="2011680" cy="292608"/>
          </a:xfrm>
          <a:prstGeom prst="roundRect">
            <a:avLst>
              <a:gd name="adj" fmla="val 15625"/>
            </a:avLst>
          </a:prstGeom>
          <a:solidFill>
            <a:srgbClr val="0B9A8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" y="9144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AI-POWERED TOOL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1298448"/>
            <a:ext cx="7315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Notice2Action</a:t>
            </a:r>
            <a:endParaRPr lang="en-US" sz="56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37744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BB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or upload any notice.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9BB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 clear summary, deadlines, and a ready-to-use checklist — in seconds.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457200" y="3246120"/>
            <a:ext cx="4754880" cy="0"/>
          </a:xfrm>
          <a:prstGeom prst="line">
            <a:avLst/>
          </a:prstGeom>
          <a:noFill/>
          <a:ln w="19050">
            <a:solidFill>
              <a:srgbClr val="0B9A8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340156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AU.28 Hackathon-01  ·  Project No. 4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703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Chekka Gowri Priya  ·  Chalamalla Ruthwika  ·  Yelle Pawan Kalyan  ·  Kontham Alaveni  ·  Maralakshikari Sreeshwan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383280" cy="5143500"/>
          </a:xfrm>
          <a:prstGeom prst="rect">
            <a:avLst/>
          </a:prstGeom>
          <a:solidFill>
            <a:srgbClr val="1B2A6B"/>
          </a:solidFill>
          <a:ln/>
        </p:spPr>
      </p:sp>
      <p:sp>
        <p:nvSpPr>
          <p:cNvPr id="4" name="Shape 2"/>
          <p:cNvSpPr/>
          <p:nvPr/>
        </p:nvSpPr>
        <p:spPr>
          <a:xfrm>
            <a:off x="3383280" y="0"/>
            <a:ext cx="54864" cy="5143500"/>
          </a:xfrm>
          <a:prstGeom prst="rect">
            <a:avLst/>
          </a:prstGeom>
          <a:solidFill>
            <a:srgbClr val="0B9A8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92608" y="77724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292608" y="22860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notices are everywhere.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B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nobody actually reads them.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292608" y="3401568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9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in 5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2029968" y="349300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miss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11880" y="320040"/>
            <a:ext cx="2542032" cy="2084832"/>
          </a:xfrm>
          <a:prstGeom prst="rect">
            <a:avLst/>
          </a:prstGeom>
          <a:solidFill>
            <a:srgbClr val="E8F4F8"/>
          </a:solidFill>
          <a:ln w="6350">
            <a:solidFill>
              <a:srgbClr val="DDE8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49040" y="502920"/>
            <a:ext cx="502920" cy="502920"/>
          </a:xfrm>
          <a:prstGeom prst="ellipse">
            <a:avLst/>
          </a:prstGeom>
          <a:solidFill>
            <a:srgbClr val="1B2A6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7490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📄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343400" y="539496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 of Text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749040" y="941832"/>
            <a:ext cx="22860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Notices are long and formal — nobody has time to read them fully.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309360" y="320040"/>
            <a:ext cx="2542032" cy="2084832"/>
          </a:xfrm>
          <a:prstGeom prst="rect">
            <a:avLst/>
          </a:prstGeom>
          <a:solidFill>
            <a:srgbClr val="E8F4F8"/>
          </a:solidFill>
          <a:ln w="6350">
            <a:solidFill>
              <a:srgbClr val="DDE8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46520" y="502920"/>
            <a:ext cx="502920" cy="502920"/>
          </a:xfrm>
          <a:prstGeom prst="ellipse">
            <a:avLst/>
          </a:prstGeom>
          <a:solidFill>
            <a:srgbClr val="1B2A6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4652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📅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040880" y="539496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Buried Deadlines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941832"/>
            <a:ext cx="22860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dates get scattered across paragraphs and are easy to miss.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11880" y="2679192"/>
            <a:ext cx="2542032" cy="2084832"/>
          </a:xfrm>
          <a:prstGeom prst="rect">
            <a:avLst/>
          </a:prstGeom>
          <a:solidFill>
            <a:srgbClr val="E8F4F8"/>
          </a:solidFill>
          <a:ln w="6350">
            <a:solidFill>
              <a:srgbClr val="DDE8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49040" y="2862072"/>
            <a:ext cx="502920" cy="502920"/>
          </a:xfrm>
          <a:prstGeom prst="ellipse">
            <a:avLst/>
          </a:prstGeom>
          <a:solidFill>
            <a:srgbClr val="1B2A6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3749040" y="28620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❓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343400" y="2898648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Unclear Eligibility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3749040" y="3300984"/>
            <a:ext cx="22860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"Am I even eligible?" requires reading the whole notice to find out.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309360" y="2679192"/>
            <a:ext cx="2542032" cy="2084832"/>
          </a:xfrm>
          <a:prstGeom prst="rect">
            <a:avLst/>
          </a:prstGeom>
          <a:solidFill>
            <a:srgbClr val="E8F4F8"/>
          </a:solidFill>
          <a:ln w="6350">
            <a:solidFill>
              <a:srgbClr val="DDE8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46520" y="2862072"/>
            <a:ext cx="502920" cy="502920"/>
          </a:xfrm>
          <a:prstGeom prst="ellipse">
            <a:avLst/>
          </a:prstGeom>
          <a:solidFill>
            <a:srgbClr val="1B2A6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46520" y="28620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040880" y="2898648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Action Plan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446520" y="3300984"/>
            <a:ext cx="22860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Notices say what exists — not what YOU personally need to do.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6B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2926080"/>
            <a:ext cx="3474720" cy="3474720"/>
          </a:xfrm>
          <a:prstGeom prst="ellipse">
            <a:avLst/>
          </a:prstGeom>
          <a:solidFill>
            <a:srgbClr val="0B9A8A"/>
          </a:solidFill>
          <a:ln/>
        </p:spPr>
      </p:sp>
      <p:sp>
        <p:nvSpPr>
          <p:cNvPr id="4" name="Shape 2"/>
          <p:cNvSpPr/>
          <p:nvPr/>
        </p:nvSpPr>
        <p:spPr>
          <a:xfrm>
            <a:off x="-548640" y="-548640"/>
            <a:ext cx="2560320" cy="2560320"/>
          </a:xfrm>
          <a:prstGeom prst="ellipse">
            <a:avLst/>
          </a:prstGeom>
          <a:solidFill>
            <a:srgbClr val="0B9A8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365760"/>
            <a:ext cx="2103120" cy="292608"/>
          </a:xfrm>
          <a:prstGeom prst="roundRect">
            <a:avLst>
              <a:gd name="adj" fmla="val 15625"/>
            </a:avLst>
          </a:prstGeom>
          <a:solidFill>
            <a:srgbClr val="0B9A8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36576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OUR SOLUTION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786384"/>
            <a:ext cx="6858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Notice2Action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664208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BB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or upload any notice — get back exactly what matters, in three clean outputs.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267712"/>
            <a:ext cx="2651760" cy="2633472"/>
          </a:xfrm>
          <a:prstGeom prst="rect">
            <a:avLst/>
          </a:prstGeom>
          <a:solidFill>
            <a:srgbClr val="1E3278"/>
          </a:solidFill>
          <a:ln w="15240">
            <a:solidFill>
              <a:srgbClr val="1D8F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267712"/>
            <a:ext cx="2651760" cy="54864"/>
          </a:xfrm>
          <a:prstGeom prst="rect">
            <a:avLst/>
          </a:prstGeom>
          <a:solidFill>
            <a:srgbClr val="1D8FD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85216" y="2423160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D8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750" dirty="0"/>
          </a:p>
        </p:txBody>
      </p:sp>
      <p:sp>
        <p:nvSpPr>
          <p:cNvPr id="12" name="Text 10"/>
          <p:cNvSpPr txBox="1"/>
          <p:nvPr/>
        </p:nvSpPr>
        <p:spPr>
          <a:xfrm>
            <a:off x="585216" y="274320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overview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85216" y="3337560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notice in 10 seconds, not 10 minutes.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91840" y="2267712"/>
            <a:ext cx="2651760" cy="2633472"/>
          </a:xfrm>
          <a:prstGeom prst="rect">
            <a:avLst/>
          </a:prstGeom>
          <a:solidFill>
            <a:srgbClr val="1E3278"/>
          </a:solidFill>
          <a:ln w="15240">
            <a:solidFill>
              <a:srgbClr val="0B9A8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91840" y="2267712"/>
            <a:ext cx="2651760" cy="54864"/>
          </a:xfrm>
          <a:prstGeom prst="rect">
            <a:avLst/>
          </a:prstGeom>
          <a:solidFill>
            <a:srgbClr val="0B9A8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419856" y="2423160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B9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DEADLINES &amp; ELIGIBILITY</a:t>
            </a:r>
            <a:endParaRPr lang="en-US" sz="750" dirty="0"/>
          </a:p>
        </p:txBody>
      </p:sp>
      <p:sp>
        <p:nvSpPr>
          <p:cNvPr id="17" name="Text 15"/>
          <p:cNvSpPr txBox="1"/>
          <p:nvPr/>
        </p:nvSpPr>
        <p:spPr>
          <a:xfrm>
            <a:off x="3419856" y="274320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key date + who it applies to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419856" y="3337560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more hunting through paragraphs for dates or conditions.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26480" y="2267712"/>
            <a:ext cx="2651760" cy="2633472"/>
          </a:xfrm>
          <a:prstGeom prst="rect">
            <a:avLst/>
          </a:prstGeom>
          <a:solidFill>
            <a:srgbClr val="1E3278"/>
          </a:solidFill>
          <a:ln w="15240">
            <a:solidFill>
              <a:srgbClr val="7B5EA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26480" y="2267712"/>
            <a:ext cx="2651760" cy="54864"/>
          </a:xfrm>
          <a:prstGeom prst="rect">
            <a:avLst/>
          </a:prstGeom>
          <a:solidFill>
            <a:srgbClr val="7B5EA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254496" y="2423160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CHECKLIST</a:t>
            </a:r>
            <a:endParaRPr lang="en-US" sz="750" dirty="0"/>
          </a:p>
        </p:txBody>
      </p:sp>
      <p:sp>
        <p:nvSpPr>
          <p:cNvPr id="22" name="Text 20"/>
          <p:cNvSpPr txBox="1"/>
          <p:nvPr/>
        </p:nvSpPr>
        <p:spPr>
          <a:xfrm>
            <a:off x="6254496" y="274320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tasks, ready to tick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254496" y="3337560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exact steps you need — in order, nothing missed.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6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41832"/>
            <a:ext cx="9144000" cy="54864"/>
          </a:xfrm>
          <a:prstGeom prst="rect">
            <a:avLst/>
          </a:prstGeom>
          <a:solidFill>
            <a:srgbClr val="0B9A8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56032" y="1115568"/>
            <a:ext cx="2743200" cy="1773936"/>
          </a:xfrm>
          <a:prstGeom prst="rect">
            <a:avLst/>
          </a:prstGeom>
          <a:solidFill>
            <a:srgbClr val="E8F4F8"/>
          </a:solidFill>
          <a:ln w="6350">
            <a:solidFill>
              <a:srgbClr val="DDE8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298448"/>
            <a:ext cx="530352" cy="530352"/>
          </a:xfrm>
          <a:prstGeom prst="ellipse">
            <a:avLst/>
          </a:prstGeom>
          <a:solidFill>
            <a:srgbClr val="1D8FD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11480" y="12984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📋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024128" y="1335024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or Upload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11480" y="1737360"/>
            <a:ext cx="24871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text or PDF — both handled automatically, no extra steps.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182112" y="1115568"/>
            <a:ext cx="2743200" cy="1773936"/>
          </a:xfrm>
          <a:prstGeom prst="rect">
            <a:avLst/>
          </a:prstGeom>
          <a:solidFill>
            <a:srgbClr val="E8F4F8"/>
          </a:solidFill>
          <a:ln w="6350">
            <a:solidFill>
              <a:srgbClr val="DDE8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37560" y="1298448"/>
            <a:ext cx="530352" cy="530352"/>
          </a:xfrm>
          <a:prstGeom prst="ellipse">
            <a:avLst/>
          </a:prstGeom>
          <a:solidFill>
            <a:srgbClr val="0B9A8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337560" y="12984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🤖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950208" y="1335024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Summary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337560" y="1737360"/>
            <a:ext cx="24871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AI produces a crisp, plain-language overview instantly.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08192" y="1115568"/>
            <a:ext cx="2743200" cy="1773936"/>
          </a:xfrm>
          <a:prstGeom prst="rect">
            <a:avLst/>
          </a:prstGeom>
          <a:solidFill>
            <a:srgbClr val="E8F4F8"/>
          </a:solidFill>
          <a:ln w="6350">
            <a:solidFill>
              <a:srgbClr val="DDE8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63640" y="1298448"/>
            <a:ext cx="530352" cy="530352"/>
          </a:xfrm>
          <a:prstGeom prst="ellipse">
            <a:avLst/>
          </a:prstGeom>
          <a:solidFill>
            <a:srgbClr val="7B5EA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263640" y="12984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📅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76288" y="1335024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 Extraction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263640" y="1737360"/>
            <a:ext cx="24871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date identified, labeled, and surfaced at a glance.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56032" y="3054096"/>
            <a:ext cx="2743200" cy="1773936"/>
          </a:xfrm>
          <a:prstGeom prst="rect">
            <a:avLst/>
          </a:prstGeom>
          <a:solidFill>
            <a:srgbClr val="E8F4F8"/>
          </a:solidFill>
          <a:ln w="6350">
            <a:solidFill>
              <a:srgbClr val="DDE8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1480" y="3236976"/>
            <a:ext cx="530352" cy="530352"/>
          </a:xfrm>
          <a:prstGeom prst="ellipse">
            <a:avLst/>
          </a:prstGeom>
          <a:solidFill>
            <a:srgbClr val="E86C4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11480" y="323697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👤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1024128" y="3273552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Check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11480" y="3675888"/>
            <a:ext cx="24871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immediately whether the notice applies to you.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182112" y="3054096"/>
            <a:ext cx="2743200" cy="1773936"/>
          </a:xfrm>
          <a:prstGeom prst="rect">
            <a:avLst/>
          </a:prstGeom>
          <a:solidFill>
            <a:srgbClr val="E8F4F8"/>
          </a:solidFill>
          <a:ln w="6350">
            <a:solidFill>
              <a:srgbClr val="DDE8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37560" y="3236976"/>
            <a:ext cx="530352" cy="530352"/>
          </a:xfrm>
          <a:prstGeom prst="ellipse">
            <a:avLst/>
          </a:prstGeom>
          <a:solidFill>
            <a:srgbClr val="2AB576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3337560" y="323697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✅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3950208" y="3273552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Checklist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3337560" y="3675888"/>
            <a:ext cx="24871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Tickable steps with a progress bar and done-all celebration.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108192" y="3054096"/>
            <a:ext cx="2743200" cy="1773936"/>
          </a:xfrm>
          <a:prstGeom prst="rect">
            <a:avLst/>
          </a:prstGeom>
          <a:solidFill>
            <a:srgbClr val="E8F4F8"/>
          </a:solidFill>
          <a:ln w="6350">
            <a:solidFill>
              <a:srgbClr val="DDE8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63640" y="3236976"/>
            <a:ext cx="530352" cy="530352"/>
          </a:xfrm>
          <a:prstGeom prst="ellipse">
            <a:avLst/>
          </a:prstGeom>
          <a:solidFill>
            <a:srgbClr val="8B6BB1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263640" y="323697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🕐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6876288" y="3273552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History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6263640" y="3675888"/>
            <a:ext cx="24871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past notices saved locally — revisit any time without re-uploading.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6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41832"/>
            <a:ext cx="9144000" cy="54864"/>
          </a:xfrm>
          <a:prstGeom prst="rect">
            <a:avLst/>
          </a:prstGeom>
          <a:solidFill>
            <a:srgbClr val="0B9A8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05840" y="1783080"/>
            <a:ext cx="7132320" cy="0"/>
          </a:xfrm>
          <a:prstGeom prst="line">
            <a:avLst/>
          </a:prstGeom>
          <a:noFill/>
          <a:ln w="19050">
            <a:solidFill>
              <a:srgbClr val="C8D8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417320"/>
            <a:ext cx="694944" cy="694944"/>
          </a:xfrm>
          <a:prstGeom prst="ellipse">
            <a:avLst/>
          </a:prstGeom>
          <a:solidFill>
            <a:srgbClr val="1D8FD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8368" y="141732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435608" y="1490472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0B8CC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29768" y="2313432"/>
            <a:ext cx="2084832" cy="2606040"/>
          </a:xfrm>
          <a:prstGeom prst="rect">
            <a:avLst/>
          </a:prstGeom>
          <a:solidFill>
            <a:srgbClr val="E8F4F8"/>
          </a:solidFill>
          <a:ln w="6350">
            <a:solidFill>
              <a:srgbClr val="D4E4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" y="2313432"/>
            <a:ext cx="2084832" cy="292608"/>
          </a:xfrm>
          <a:prstGeom prst="rect">
            <a:avLst/>
          </a:prstGeom>
          <a:solidFill>
            <a:srgbClr val="1D8FD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75488" y="2350008"/>
            <a:ext cx="1993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or Paste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493776" y="2697480"/>
            <a:ext cx="1938528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a PDF onto the input screen, or simply paste the notice text. The app detects the format automatically.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651760" y="1417320"/>
            <a:ext cx="694944" cy="694944"/>
          </a:xfrm>
          <a:prstGeom prst="ellipse">
            <a:avLst/>
          </a:prstGeom>
          <a:solidFill>
            <a:srgbClr val="0B9A8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651760" y="141732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3429000" y="1490472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0B8CC"/>
                </a:solidFill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2423160" y="2313432"/>
            <a:ext cx="2084832" cy="2606040"/>
          </a:xfrm>
          <a:prstGeom prst="rect">
            <a:avLst/>
          </a:prstGeom>
          <a:solidFill>
            <a:srgbClr val="E8F4F8"/>
          </a:solidFill>
          <a:ln w="6350">
            <a:solidFill>
              <a:srgbClr val="D4E4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423160" y="2313432"/>
            <a:ext cx="2084832" cy="292608"/>
          </a:xfrm>
          <a:prstGeom prst="rect">
            <a:avLst/>
          </a:prstGeom>
          <a:solidFill>
            <a:srgbClr val="0B9A8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2468880" y="2350008"/>
            <a:ext cx="1993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Extraction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2487168" y="2697480"/>
            <a:ext cx="1938528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 go through pdf-parse to pull the raw text. Pasted content is used directly — no extra step.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45152" y="1417320"/>
            <a:ext cx="694944" cy="694944"/>
          </a:xfrm>
          <a:prstGeom prst="ellipse">
            <a:avLst/>
          </a:prstGeom>
          <a:solidFill>
            <a:srgbClr val="7B5EA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645152" y="141732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5422392" y="1490472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0B8CC"/>
                </a:solidFill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4416552" y="2313432"/>
            <a:ext cx="2084832" cy="2606040"/>
          </a:xfrm>
          <a:prstGeom prst="rect">
            <a:avLst/>
          </a:prstGeom>
          <a:solidFill>
            <a:srgbClr val="E8F4F8"/>
          </a:solidFill>
          <a:ln w="6350">
            <a:solidFill>
              <a:srgbClr val="D4E4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16552" y="2313432"/>
            <a:ext cx="2084832" cy="292608"/>
          </a:xfrm>
          <a:prstGeom prst="rect">
            <a:avLst/>
          </a:prstGeom>
          <a:solidFill>
            <a:srgbClr val="7B5EA7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462272" y="2350008"/>
            <a:ext cx="1993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Analyses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4480560" y="2697480"/>
            <a:ext cx="1938528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text is sent to Google Gemini with a structured prompt. The AI returns a JSON with summary, dates, eligibility, and checklist.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638544" y="1417320"/>
            <a:ext cx="694944" cy="694944"/>
          </a:xfrm>
          <a:prstGeom prst="ellipse">
            <a:avLst/>
          </a:prstGeom>
          <a:solidFill>
            <a:srgbClr val="2AB576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38544" y="141732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6409944" y="2313432"/>
            <a:ext cx="2084832" cy="2606040"/>
          </a:xfrm>
          <a:prstGeom prst="rect">
            <a:avLst/>
          </a:prstGeom>
          <a:solidFill>
            <a:srgbClr val="E8F4F8"/>
          </a:solidFill>
          <a:ln w="6350">
            <a:solidFill>
              <a:srgbClr val="D4E4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09944" y="2313432"/>
            <a:ext cx="2084832" cy="292608"/>
          </a:xfrm>
          <a:prstGeom prst="rect">
            <a:avLst/>
          </a:prstGeom>
          <a:solidFill>
            <a:srgbClr val="2AB576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455664" y="2350008"/>
            <a:ext cx="1993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Action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6473952" y="2697480"/>
            <a:ext cx="1938528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see three clean cards. Tick off checklist items one by one as you complete each step.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6B"/>
          </a:solidFill>
          <a:ln/>
        </p:spPr>
      </p:sp>
      <p:sp>
        <p:nvSpPr>
          <p:cNvPr id="3" name="Shape 1"/>
          <p:cNvSpPr/>
          <p:nvPr/>
        </p:nvSpPr>
        <p:spPr>
          <a:xfrm>
            <a:off x="5577840" y="0"/>
            <a:ext cx="3566160" cy="5143500"/>
          </a:xfrm>
          <a:prstGeom prst="rect">
            <a:avLst/>
          </a:prstGeom>
          <a:solidFill>
            <a:srgbClr val="1E3278"/>
          </a:solidFill>
          <a:ln/>
        </p:spPr>
      </p:sp>
      <p:sp>
        <p:nvSpPr>
          <p:cNvPr id="4" name="Shape 2"/>
          <p:cNvSpPr/>
          <p:nvPr/>
        </p:nvSpPr>
        <p:spPr>
          <a:xfrm>
            <a:off x="5577840" y="0"/>
            <a:ext cx="54864" cy="5143500"/>
          </a:xfrm>
          <a:prstGeom prst="rect">
            <a:avLst/>
          </a:prstGeom>
          <a:solidFill>
            <a:srgbClr val="0B9A8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11480" y="201168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411480" y="8229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modern web stack, a free AI engine, and cloud deployment.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1298448"/>
            <a:ext cx="960120" cy="246888"/>
          </a:xfrm>
          <a:prstGeom prst="roundRect">
            <a:avLst>
              <a:gd name="adj" fmla="val 11111"/>
            </a:avLst>
          </a:prstGeom>
          <a:solidFill>
            <a:srgbClr val="1D8FD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11480" y="1298448"/>
            <a:ext cx="960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1307592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 ·  Vite 8  ·  Tailwind CSS 4  ·  React Router 7  ·  Axios  ·  Zustand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1645920"/>
            <a:ext cx="4983480" cy="0"/>
          </a:xfrm>
          <a:prstGeom prst="line">
            <a:avLst/>
          </a:prstGeom>
          <a:noFill/>
          <a:ln w="6350">
            <a:solidFill>
              <a:srgbClr val="2A3F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2185416"/>
            <a:ext cx="960120" cy="246888"/>
          </a:xfrm>
          <a:prstGeom prst="roundRect">
            <a:avLst>
              <a:gd name="adj" fmla="val 11111"/>
            </a:avLst>
          </a:prstGeom>
          <a:solidFill>
            <a:srgbClr val="0B9A8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11480" y="2185416"/>
            <a:ext cx="960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700" dirty="0"/>
          </a:p>
        </p:txBody>
      </p:sp>
      <p:sp>
        <p:nvSpPr>
          <p:cNvPr id="13" name="Text 11"/>
          <p:cNvSpPr txBox="1"/>
          <p:nvPr/>
        </p:nvSpPr>
        <p:spPr>
          <a:xfrm>
            <a:off x="1463040" y="2194560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 ·  Express 5  ·  Mongoose 9  ·  Multer 2  ·  dotenv  ·  cors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2532888"/>
            <a:ext cx="4983480" cy="0"/>
          </a:xfrm>
          <a:prstGeom prst="line">
            <a:avLst/>
          </a:prstGeom>
          <a:noFill/>
          <a:ln w="6350">
            <a:solidFill>
              <a:srgbClr val="2A3F8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3072384"/>
            <a:ext cx="960120" cy="246888"/>
          </a:xfrm>
          <a:prstGeom prst="roundRect">
            <a:avLst>
              <a:gd name="adj" fmla="val 11111"/>
            </a:avLst>
          </a:prstGeom>
          <a:solidFill>
            <a:srgbClr val="7B5EA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11480" y="3072384"/>
            <a:ext cx="960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</a:t>
            </a:r>
            <a:endParaRPr lang="en-US" sz="7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3081528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API  (gemini-3.6-flash)  ·  pdf-parse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" y="3419856"/>
            <a:ext cx="4983480" cy="0"/>
          </a:xfrm>
          <a:prstGeom prst="line">
            <a:avLst/>
          </a:prstGeom>
          <a:noFill/>
          <a:ln w="6350">
            <a:solidFill>
              <a:srgbClr val="2A3F8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3959352"/>
            <a:ext cx="960120" cy="246888"/>
          </a:xfrm>
          <a:prstGeom prst="roundRect">
            <a:avLst>
              <a:gd name="adj" fmla="val 11111"/>
            </a:avLst>
          </a:prstGeom>
          <a:solidFill>
            <a:srgbClr val="2AB57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11480" y="3959352"/>
            <a:ext cx="960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700" dirty="0"/>
          </a:p>
        </p:txBody>
      </p:sp>
      <p:sp>
        <p:nvSpPr>
          <p:cNvPr id="21" name="Text 19"/>
          <p:cNvSpPr txBox="1"/>
          <p:nvPr/>
        </p:nvSpPr>
        <p:spPr>
          <a:xfrm>
            <a:off x="1463040" y="3968496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 (cloud, free tier)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742432" y="3200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9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715000" y="914400"/>
            <a:ext cx="3200400" cy="1170432"/>
          </a:xfrm>
          <a:prstGeom prst="rect">
            <a:avLst/>
          </a:prstGeom>
          <a:solidFill>
            <a:srgbClr val="162050"/>
          </a:solidFill>
          <a:ln w="6350">
            <a:solidFill>
              <a:srgbClr val="0B9A8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80644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▲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6382512" y="102412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382512" y="1371600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hosting · SPA rewrite rules · CI/CD from GitHub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715000" y="2304288"/>
            <a:ext cx="3200400" cy="1170432"/>
          </a:xfrm>
          <a:prstGeom prst="rect">
            <a:avLst/>
          </a:prstGeom>
          <a:solidFill>
            <a:srgbClr val="162050"/>
          </a:solidFill>
          <a:ln w="6350">
            <a:solidFill>
              <a:srgbClr val="0B9A8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806440" y="2578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6C8B0"/>
                </a:solidFill>
              </a:rPr>
              <a:t>⬡</a:t>
            </a:r>
            <a:endParaRPr lang="en-US" sz="2200" dirty="0"/>
          </a:p>
        </p:txBody>
      </p:sp>
      <p:sp>
        <p:nvSpPr>
          <p:cNvPr id="29" name="Text 27"/>
          <p:cNvSpPr txBox="1"/>
          <p:nvPr/>
        </p:nvSpPr>
        <p:spPr>
          <a:xfrm>
            <a:off x="6382512" y="241401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6382512" y="2761488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Node.js · Free web service · auto-deploy from GitHub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715000" y="3694176"/>
            <a:ext cx="3200400" cy="1170432"/>
          </a:xfrm>
          <a:prstGeom prst="rect">
            <a:avLst/>
          </a:prstGeom>
          <a:solidFill>
            <a:srgbClr val="162050"/>
          </a:solidFill>
          <a:ln w="6350">
            <a:solidFill>
              <a:srgbClr val="0B9A8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806440" y="39684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DB33D"/>
                </a:solidFill>
              </a:rPr>
              <a:t>🍃</a:t>
            </a:r>
            <a:endParaRPr lang="en-US" sz="2200" dirty="0"/>
          </a:p>
        </p:txBody>
      </p:sp>
      <p:sp>
        <p:nvSpPr>
          <p:cNvPr id="33" name="Text 31"/>
          <p:cNvSpPr txBox="1"/>
          <p:nvPr/>
        </p:nvSpPr>
        <p:spPr>
          <a:xfrm>
            <a:off x="6382512" y="380390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6382512" y="4151376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database · Free M0 cluster · Mongoose connection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6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41832"/>
            <a:ext cx="9144000" cy="54864"/>
          </a:xfrm>
          <a:prstGeom prst="rect">
            <a:avLst/>
          </a:prstGeom>
          <a:solidFill>
            <a:srgbClr val="0B9A8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2743200" cy="1792224"/>
          </a:xfrm>
          <a:prstGeom prst="rect">
            <a:avLst/>
          </a:prstGeom>
          <a:solidFill>
            <a:srgbClr val="E8F4F8"/>
          </a:solidFill>
          <a:ln w="6350">
            <a:solidFill>
              <a:srgbClr val="DDE8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29768" y="1298448"/>
            <a:ext cx="502920" cy="502920"/>
          </a:xfrm>
          <a:prstGeom prst="ellipse">
            <a:avLst/>
          </a:prstGeom>
          <a:solidFill>
            <a:srgbClr val="1D8FD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29768" y="12984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📸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24128" y="1335024"/>
            <a:ext cx="1901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&amp; Photo OCR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429768" y="1773936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photo of a notice board — OCR extracts the text before AI processing.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0" y="1115568"/>
            <a:ext cx="2743200" cy="1792224"/>
          </a:xfrm>
          <a:prstGeom prst="rect">
            <a:avLst/>
          </a:prstGeom>
          <a:solidFill>
            <a:srgbClr val="E8F4F8"/>
          </a:solidFill>
          <a:ln w="6350">
            <a:solidFill>
              <a:srgbClr val="DDE8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55848" y="1298448"/>
            <a:ext cx="502920" cy="502920"/>
          </a:xfrm>
          <a:prstGeom prst="ellipse">
            <a:avLst/>
          </a:prstGeom>
          <a:solidFill>
            <a:srgbClr val="0B9A8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355848" y="12984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👤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950208" y="1335024"/>
            <a:ext cx="1901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Accounts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3355848" y="1773936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Cross-device checklist sync so your progress persists across phone and laptop.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26480" y="1115568"/>
            <a:ext cx="2743200" cy="1792224"/>
          </a:xfrm>
          <a:prstGeom prst="rect">
            <a:avLst/>
          </a:prstGeom>
          <a:solidFill>
            <a:srgbClr val="E8F4F8"/>
          </a:solidFill>
          <a:ln w="6350">
            <a:solidFill>
              <a:srgbClr val="DDE8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81928" y="1298448"/>
            <a:ext cx="502920" cy="502920"/>
          </a:xfrm>
          <a:prstGeom prst="ellipse">
            <a:avLst/>
          </a:prstGeom>
          <a:solidFill>
            <a:srgbClr val="7B5EA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281928" y="12984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🔔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876288" y="1335024"/>
            <a:ext cx="1901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 Reminders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6281928" y="1773936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or email alerts 24 hours before any extracted deadline.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691640" y="3090672"/>
            <a:ext cx="2743200" cy="1792224"/>
          </a:xfrm>
          <a:prstGeom prst="rect">
            <a:avLst/>
          </a:prstGeom>
          <a:solidFill>
            <a:srgbClr val="E8F4F8"/>
          </a:solidFill>
          <a:ln w="6350">
            <a:solidFill>
              <a:srgbClr val="DDE8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47088" y="3273552"/>
            <a:ext cx="502920" cy="502920"/>
          </a:xfrm>
          <a:prstGeom prst="ellipse">
            <a:avLst/>
          </a:prstGeom>
          <a:solidFill>
            <a:srgbClr val="2AB57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847088" y="3273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🌐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2441448" y="3310128"/>
            <a:ext cx="1901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Support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1847088" y="374904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Regional-language notices auto-translated before processing.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349240" y="3090672"/>
            <a:ext cx="2743200" cy="1792224"/>
          </a:xfrm>
          <a:prstGeom prst="rect">
            <a:avLst/>
          </a:prstGeom>
          <a:solidFill>
            <a:srgbClr val="E8F4F8"/>
          </a:solidFill>
          <a:ln w="6350">
            <a:solidFill>
              <a:srgbClr val="DDE8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504688" y="3273552"/>
            <a:ext cx="502920" cy="502920"/>
          </a:xfrm>
          <a:prstGeom prst="ellipse">
            <a:avLst/>
          </a:prstGeom>
          <a:solidFill>
            <a:srgbClr val="E86C4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504688" y="3273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📤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6099048" y="3310128"/>
            <a:ext cx="1901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Shareable Summary Cards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5504688" y="374904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shareable card for WhatsApp or email — no more forwarding the whole PDF.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B9A8A"/>
          </a:solidFill>
          <a:ln/>
        </p:spPr>
      </p:sp>
      <p:sp>
        <p:nvSpPr>
          <p:cNvPr id="4" name="Shape 2"/>
          <p:cNvSpPr/>
          <p:nvPr/>
        </p:nvSpPr>
        <p:spPr>
          <a:xfrm>
            <a:off x="7132320" y="-457200"/>
            <a:ext cx="2286000" cy="2286000"/>
          </a:xfrm>
          <a:prstGeom prst="ellipse">
            <a:avLst/>
          </a:prstGeom>
          <a:solidFill>
            <a:srgbClr val="0B9A8A"/>
          </a:solidFill>
          <a:ln/>
        </p:spPr>
      </p:sp>
      <p:sp>
        <p:nvSpPr>
          <p:cNvPr id="5" name="Shape 3"/>
          <p:cNvSpPr/>
          <p:nvPr/>
        </p:nvSpPr>
        <p:spPr>
          <a:xfrm>
            <a:off x="-274320" y="3840480"/>
            <a:ext cx="1645920" cy="1645920"/>
          </a:xfrm>
          <a:prstGeom prst="ellipse">
            <a:avLst/>
          </a:prstGeom>
          <a:solidFill>
            <a:srgbClr val="0B9A8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20040" y="22860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9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NOTICE2ACTION  ·  AU.28 HACKATHON-01  ·  PROJECT NO. 4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320040" y="530352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Team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320040" y="1170432"/>
            <a:ext cx="8503920" cy="0"/>
          </a:xfrm>
          <a:prstGeom prst="line">
            <a:avLst/>
          </a:prstGeom>
          <a:noFill/>
          <a:ln w="10160">
            <a:solidFill>
              <a:srgbClr val="2A409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353312"/>
            <a:ext cx="2633472" cy="1353312"/>
          </a:xfrm>
          <a:prstGeom prst="rect">
            <a:avLst/>
          </a:prstGeom>
          <a:solidFill>
            <a:srgbClr val="1E3278"/>
          </a:solidFill>
          <a:ln w="12700">
            <a:solidFill>
              <a:srgbClr val="1D8F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353312"/>
            <a:ext cx="73152" cy="1353312"/>
          </a:xfrm>
          <a:prstGeom prst="rect">
            <a:avLst/>
          </a:prstGeom>
          <a:solidFill>
            <a:srgbClr val="1D8FD4"/>
          </a:solidFill>
          <a:ln/>
        </p:spPr>
      </p:sp>
      <p:sp>
        <p:nvSpPr>
          <p:cNvPr id="11" name="Shape 9"/>
          <p:cNvSpPr/>
          <p:nvPr/>
        </p:nvSpPr>
        <p:spPr>
          <a:xfrm>
            <a:off x="521208" y="1673352"/>
            <a:ext cx="658368" cy="658368"/>
          </a:xfrm>
          <a:prstGeom prst="ellipse">
            <a:avLst/>
          </a:prstGeom>
          <a:solidFill>
            <a:srgbClr val="1D8FD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21208" y="167335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162763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Chekka Gowri Priya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208483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24EG105G09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64408" y="1353312"/>
            <a:ext cx="2633472" cy="1353312"/>
          </a:xfrm>
          <a:prstGeom prst="rect">
            <a:avLst/>
          </a:prstGeom>
          <a:solidFill>
            <a:srgbClr val="1E3278"/>
          </a:solidFill>
          <a:ln w="12700">
            <a:solidFill>
              <a:srgbClr val="0B9A8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64408" y="1353312"/>
            <a:ext cx="73152" cy="1353312"/>
          </a:xfrm>
          <a:prstGeom prst="rect">
            <a:avLst/>
          </a:prstGeom>
          <a:solidFill>
            <a:srgbClr val="0B9A8A"/>
          </a:solidFill>
          <a:ln/>
        </p:spPr>
      </p:sp>
      <p:sp>
        <p:nvSpPr>
          <p:cNvPr id="17" name="Shape 15"/>
          <p:cNvSpPr/>
          <p:nvPr/>
        </p:nvSpPr>
        <p:spPr>
          <a:xfrm>
            <a:off x="3465576" y="1673352"/>
            <a:ext cx="658368" cy="658368"/>
          </a:xfrm>
          <a:prstGeom prst="ellipse">
            <a:avLst/>
          </a:prstGeom>
          <a:solidFill>
            <a:srgbClr val="0B9A8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465576" y="167335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224528" y="162763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Chalamalla Ruthwika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224528" y="208483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24EG105J07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90488" y="1353312"/>
            <a:ext cx="2633472" cy="1353312"/>
          </a:xfrm>
          <a:prstGeom prst="rect">
            <a:avLst/>
          </a:prstGeom>
          <a:solidFill>
            <a:srgbClr val="1E3278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90488" y="1353312"/>
            <a:ext cx="73152" cy="1353312"/>
          </a:xfrm>
          <a:prstGeom prst="rect">
            <a:avLst/>
          </a:prstGeom>
          <a:solidFill>
            <a:srgbClr val="7B5EA7"/>
          </a:solidFill>
          <a:ln/>
        </p:spPr>
      </p:sp>
      <p:sp>
        <p:nvSpPr>
          <p:cNvPr id="23" name="Shape 21"/>
          <p:cNvSpPr/>
          <p:nvPr/>
        </p:nvSpPr>
        <p:spPr>
          <a:xfrm>
            <a:off x="6391656" y="1673352"/>
            <a:ext cx="658368" cy="658368"/>
          </a:xfrm>
          <a:prstGeom prst="ellipse">
            <a:avLst/>
          </a:prstGeom>
          <a:solidFill>
            <a:srgbClr val="7B5EA7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391656" y="167335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YP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150608" y="162763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Yelle Pawan Kalyan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150608" y="208483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24EG105Q23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801368" y="2852928"/>
            <a:ext cx="2633472" cy="1353312"/>
          </a:xfrm>
          <a:prstGeom prst="rect">
            <a:avLst/>
          </a:prstGeom>
          <a:solidFill>
            <a:srgbClr val="1E3278"/>
          </a:solidFill>
          <a:ln w="12700">
            <a:solidFill>
              <a:srgbClr val="2AB57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801368" y="2852928"/>
            <a:ext cx="73152" cy="1353312"/>
          </a:xfrm>
          <a:prstGeom prst="rect">
            <a:avLst/>
          </a:prstGeom>
          <a:solidFill>
            <a:srgbClr val="2AB576"/>
          </a:solidFill>
          <a:ln/>
        </p:spPr>
      </p:sp>
      <p:sp>
        <p:nvSpPr>
          <p:cNvPr id="29" name="Shape 27"/>
          <p:cNvSpPr/>
          <p:nvPr/>
        </p:nvSpPr>
        <p:spPr>
          <a:xfrm>
            <a:off x="2002536" y="3172968"/>
            <a:ext cx="658368" cy="658368"/>
          </a:xfrm>
          <a:prstGeom prst="ellipse">
            <a:avLst/>
          </a:prstGeom>
          <a:solidFill>
            <a:srgbClr val="2AB576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2002536" y="317296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2761488" y="312724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Kontham Alaveni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2761488" y="358444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24EG105Q44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27448" y="2852928"/>
            <a:ext cx="2633472" cy="1353312"/>
          </a:xfrm>
          <a:prstGeom prst="rect">
            <a:avLst/>
          </a:prstGeom>
          <a:solidFill>
            <a:srgbClr val="1E3278"/>
          </a:solidFill>
          <a:ln w="12700">
            <a:solidFill>
              <a:srgbClr val="E86C4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27448" y="2852928"/>
            <a:ext cx="73152" cy="1353312"/>
          </a:xfrm>
          <a:prstGeom prst="rect">
            <a:avLst/>
          </a:prstGeom>
          <a:solidFill>
            <a:srgbClr val="E86C4A"/>
          </a:solidFill>
          <a:ln/>
        </p:spPr>
      </p:sp>
      <p:sp>
        <p:nvSpPr>
          <p:cNvPr id="35" name="Shape 33"/>
          <p:cNvSpPr/>
          <p:nvPr/>
        </p:nvSpPr>
        <p:spPr>
          <a:xfrm>
            <a:off x="4928616" y="3172968"/>
            <a:ext cx="658368" cy="658368"/>
          </a:xfrm>
          <a:prstGeom prst="ellipse">
            <a:avLst/>
          </a:prstGeom>
          <a:solidFill>
            <a:srgbClr val="E86C4A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4928616" y="317296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5687568" y="312724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Maralakshikari Sreeshwan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5687568" y="358444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24EG105Q47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20040" y="4343400"/>
            <a:ext cx="8503920" cy="0"/>
          </a:xfrm>
          <a:prstGeom prst="line">
            <a:avLst/>
          </a:prstGeom>
          <a:noFill/>
          <a:ln w="10160">
            <a:solidFill>
              <a:srgbClr val="2A4090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320040" y="448056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9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for your time.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2026-08-27T14:32:23Z</dcterms:created>
  <dcterms:modified xsi:type="dcterms:W3CDTF">2026-08-27T14:32:23Z</dcterms:modified>
</cp:coreProperties>
</file>